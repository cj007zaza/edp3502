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3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7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8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5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2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4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9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1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6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7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43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55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98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85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2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3B73F01-1170-45D5-93E9-ED31DDFA6339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48B2C82-D508-42FC-90A0-68F18717A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BE18-3B03-3F31-E4D8-58033BD2E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05970"/>
          </a:xfrm>
        </p:spPr>
        <p:txBody>
          <a:bodyPr/>
          <a:lstStyle/>
          <a:p>
            <a:pPr algn="ctr"/>
            <a:r>
              <a:rPr lang="th-TH" dirty="0"/>
              <a:t>ความหมายของการให้คำปรึกษา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5EF76-D9A5-F363-D04C-D971C5121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4533"/>
            <a:ext cx="9144000" cy="2853267"/>
          </a:xfrm>
        </p:spPr>
        <p:txBody>
          <a:bodyPr>
            <a:normAutofit/>
          </a:bodyPr>
          <a:lstStyle/>
          <a:p>
            <a:r>
              <a:rPr lang="th-TH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กระบวนการให้ความช่วยเหลือ โดยบุคคลที่ได้รับการฝึกฝนอบรมทางด้านการให้ความช่วยเหลือทางจิตวิทยาโดยเฉพาะให้แก่ผู้ที่มีปัญหา ซึ่งมาขอรับการช่วยเหลือ เพื่อช่วยให้ผู้มาขอรับคำปรึกษาเกิดความเข้าใจตนเองและสิ่งแวดล้อม รู้จักปรับปรุงแก้ไขตนเอง สามารถปรับตัวได้ดีขึ้นและสามารถนำตนเองได้ในที่สุด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69691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7416-4189-8871-E0E5-F725E65D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หลักการสำคัญของการให้คำปรึกษา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1B06-C255-8C80-CA99-A166C75E4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ผู้ให้คำปรึกษาจะต้องเป็นผู้ที่มีความซื่อสัตย์ต่อผู้มาขอรับคำปรึกษาและมีความสนใจผู้มาขอรับคำปรึกษาด้วยความจริงใจ และยอมรับผู้มาขอรับคำปรึกษาตามที่เขาเป็นอยู่ขณะนั้น 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ผู้มาขอรับคำปรึกษาจะต้องสามารถไว้วางใจตัวผู้ให้คำปรึกษาได้ ผู้มาขอรับคำปรึกษาจะต้องมีความรู้สึกไว้วางใจตัวผู้ให้คำปรึกษา ซึ่งลักษณะเช่นนี้เรียกว่า การรักษาความลับของ     ผู้ให้คำปรึกษา ซึ่งเป็นสิ่งสำคัญเพราะจะทำให้ผู้มาขอรับคำปรึกษากล้าพูดกล้าแสดงออก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กระบวนการให้คำปรึกษานั้น จะต้องมีข้อจำกัดเกี่ยวกับเวลา การนัดหมาย ขอบเขตจำกัดของการสนทนา และสัมพันธภาพที่เกิดขึ้น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  <a:p>
            <a:pPr algn="just"/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ngsana New" panose="02020603050405020304" pitchFamily="18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45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72525-BAEA-C97D-883D-4CA44C90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คุณสมบัติที่จำเป็นของผู้ให้คำปรึกษา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E70AA-FB66-0102-B6B3-EC4779137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4575"/>
            <a:ext cx="8825659" cy="4191000"/>
          </a:xfrm>
        </p:spPr>
        <p:txBody>
          <a:bodyPr>
            <a:normAutofit lnSpcReduction="10000"/>
          </a:bodyPr>
          <a:lstStyle/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การยอมรับ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Acceptance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การเข้าใจและเห็นใจ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Understanding and Empathy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ความจริงใจ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Sincerity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ความไว้วางใจได้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Confidentiality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ความสามารถและประสิทธิภาพ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Competence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มีวุฒิภาวะทางอารมณ์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Emotional Maturity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 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มีความเข้าใจและตระหนักในเรื่องความแตกต่างระหว่างบุคคล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Individual Differences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 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ความรับผิดชอบต่อตนเอง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Responsibility of Self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 </a:t>
            </a:r>
          </a:p>
          <a:p>
            <a:pPr algn="just"/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ความรับผิดชอบต่อวิชาชีพ (</a:t>
            </a:r>
            <a:r>
              <a:rPr lang="en-US" sz="2400" dirty="0">
                <a:effectLst/>
                <a:latin typeface="Angsana New" panose="02020603050405020304" pitchFamily="18" charset="-34"/>
                <a:ea typeface="Times New Roman" panose="02020603050405020304" pitchFamily="18" charset="0"/>
              </a:rPr>
              <a:t>Responsibility to the Profession</a:t>
            </a:r>
            <a:r>
              <a:rPr lang="th-TH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61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23FF7-499D-0D29-6E65-C3FEA91C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85799"/>
            <a:ext cx="8761413" cy="1476375"/>
          </a:xfrm>
        </p:spPr>
        <p:txBody>
          <a:bodyPr/>
          <a:lstStyle/>
          <a:p>
            <a:pPr algn="ctr"/>
            <a:r>
              <a:rPr lang="th-TH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จุดมุ่งหมายของการให้คำปรึกษา</a:t>
            </a:r>
            <a:b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D815-056B-C48E-B61F-950BB785F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95524"/>
            <a:ext cx="8825659" cy="4010026"/>
          </a:xfrm>
        </p:spPr>
        <p:txBody>
          <a:bodyPr>
            <a:noAutofit/>
          </a:bodyPr>
          <a:lstStyle/>
          <a:p>
            <a:r>
              <a:rPr lang="th-TH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ช่วยให้บุคคลรู้สึกว่าตนเองไม่โดดเดี่ยว เมื่อเจอปัญหายังมีผู้คอยให้ความช่วยเหลือ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2.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ช่วยให้บุคคลรู้จักและเข้าใจตนเองอย่างถูกต้อง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3.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ช่วยให้บุคคลรู้จักคิดและใช้ความสามารถที่มีในการแก้ปัญหา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4.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ช่วยให้บุคคลเกิดความกระจ่างมองเห็นทางในการแก้ปัญหา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5.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ช่วยให้บุคคลเห็นความสำคัญ และประโยชน์จากงานแนะแนว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6.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ช่วยให้บุคคลปรับตัวได้และใช้ชีวิตอย่างเป็นสุข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7.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ช่วยให้บุคคลรู้จักยอมรับต่อสภาวการณ์ที่แท้จริง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8.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ช่วยให้บุคคลได้มีพัฒนาการเจริญงอกงามถึงขีดสูงสุด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1689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C685-B70F-D266-2003-48CCCBDD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1245657"/>
          </a:xfrm>
        </p:spPr>
        <p:txBody>
          <a:bodyPr/>
          <a:lstStyle/>
          <a:p>
            <a:pPr algn="ctr"/>
            <a:r>
              <a:rPr lang="th-TH" sz="4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หลักของการให้คำปรึกษา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24160-303C-CD15-93D7-0632884D0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19324"/>
            <a:ext cx="8825659" cy="3800476"/>
          </a:xfrm>
        </p:spPr>
        <p:txBody>
          <a:bodyPr>
            <a:normAutofit lnSpcReduction="10000"/>
          </a:bodyPr>
          <a:lstStyle/>
          <a:p>
            <a:r>
              <a:rPr lang="th-TH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การให้คำปรึกษาจะต้องกระทำโดยความสมัครใจของผู้มาขอรับคำปรึกษา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ผู้ให้คำปรึกษาต้องมีความรู้ มีประสบการณ์ การฝึกฝนเกี่ยวกับการให้คำปรึกษา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ผู้ให้คำปรึกษามีหน้าที่ช่วยให้ผู้มาขอรับคำปรึกษาเข้าใจและรู้จักตัวเอง แก้ไขปัญหาด้วยตัวเอง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การให้คำปรึกษาต้องเข้าใจถึงความแตกต่างระหว่างบุคคล ความแตกต่างของสภาพแวดล้อม ปัญหาอย่างเดียวกัน อาจจะไม่สามารถใช้วิธีแก้ปัญหาแบบเดียวกันได้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ผู้ให้คำปรึกษาต้องเข้าใจว่าปัญหาทุกอย่างไม่สามารถแยกออกจากปัญหาอื่นๆได้ ปัญหาต่างๆอาจมีความสัมพันธ์กัน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การให้คำปรึกษายึดหลักในการให้บุคคลสามารถปรับตัวได้ หากปัญหาใดไม่อยู่ในความสามารถของผู้ให้คำปรึกษา สามารถส่งต่อให้ผู้ที่เชียวชาญกว่าได้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98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352D4-517A-0CF0-4F36-9BA671FB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44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Angsana New" panose="02020603050405020304" pitchFamily="18" charset="-34"/>
              </a:rPr>
              <a:t>วิธีการในการให้คำปรึกษา 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5623-5A32-66D6-CF62-4FBC377A7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81250"/>
            <a:ext cx="8825659" cy="3638550"/>
          </a:xfrm>
        </p:spPr>
        <p:txBody>
          <a:bodyPr>
            <a:normAutofit fontScale="92500"/>
          </a:bodyPr>
          <a:lstStyle/>
          <a:p>
            <a:r>
              <a:rPr lang="th-TH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การให้คำปรึกษาแบบนำทาง</a:t>
            </a:r>
            <a:r>
              <a:rPr lang="th-TH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 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ในการให้คำปรึกษาแบบนำทาง ผู้ให้คำปรึกษาจะต้องทำความเข้าใจเกี่ยวกับผู้มาขอรับการปรึกษา ต้องใช้เวลาศึกษาอย่างถี่ถ้วนเพื่อให้เข้าใจถึงสาเหตุของปัญหา โดยอาจใช้รูปแบบการเก็บข้อมูลแบบต่างๆ</a:t>
            </a:r>
            <a:r>
              <a:rPr lang="en-US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 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การให้คำปรึกษาแบบนำทาง จะใช้เป็นกรณีพิเศษสำหรับเด็กที่ไม่สามารถคิดและรับผิดชอบตนเองได้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+mj-cs"/>
              </a:rPr>
              <a:t> </a:t>
            </a:r>
            <a:r>
              <a:rPr lang="th-TH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ในการให้คำปรึกษาแบบนำทาง ผู้ให้คำปรึกษามีหน้าที่ในการแก้ปัญหามากกว่าตัวผู้ประสบปัญหา จึงต้องมีความเชี่ยวชาญ สุขุม เยือกเย็น และมีวิจารณญาณ</a:t>
            </a:r>
          </a:p>
          <a:p>
            <a:r>
              <a:rPr lang="th-TH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การให้คำปรึกษาแบบไม่นำทาง  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เป็นการให้คำปรึกษาโดยยึดผู้มารับการปรึกษาเป็นศูนย์กลาง โดยผู้ให้คำปรึกษามีหน้าที่คอยช่วยเหลือให้ผู้มารับคำปรึกษาได้คิดพิจารณาหาทางแก้ไขปัญหาด้วยตนเอง ผู้ให้คำปรึกษาจะคอยรับฟังให้ผู้มีปัญหาได้ระบายความทุกข์ ความคับข้องใจ ผ่อนคลายตนจากความตึงเครียดที่ได้รับ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+mj-cs"/>
              </a:rPr>
              <a:t> </a:t>
            </a:r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ผู้ให้คำปรึกษา จะให้กำลังใจ ชี้แนวทางในการต่อสู้ ให้ผู้มารับคำปรึกษาเกิดกำลังใจที่จะเอาชนะอุปสรรคต่างๆ และได้ค้นหาวิธีการแก้ไขปัญหาด้วยสติปัญญาของตน และความรับผิดชอบของตน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6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9E5F-6DCF-B061-DFC2-F2D2394B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4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ลำดับขั้นการให้คำปรึกษาแบบนำทาง</a:t>
            </a:r>
            <a:b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4E0A-BB72-88A8-F1B6-B1C606203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การวิเคราะห์ข้อมูล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การสังเคราะห์ข้อมูล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การวินิจฉัยข้อมูล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 err="1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การทำ</a:t>
            </a:r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นาย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การให้คำปรึกษา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การติดตามผล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052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3A6F-8AD8-1485-DB89-1F4DE20A6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จุดมุ่งหมายของการให้คำปรึกษาแบบไม่นำทาง</a:t>
            </a:r>
            <a:b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D64E2-1517-6D09-5A40-78B983FB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ช่วยให้บุคคลได้หาแนวทางในการแก้ไขปัญหา และผ่อนคลายความตึงเครียดได้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ช่วยให้ผู้ขอรับคำปรึกษา เข้าใจตนเองอย่างถูกต้องตรงตามความเป็นจริง รู้จักและเข้าใจตนเองดีขึ้น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ช่วยให้ผู้ขอรับคำปรึกษาเกิดความมั่นคงทางอารมณ์ เชื่อมั่นว่าปัญหาที่เกิดขึ้นสามารถแก้ไขได้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ให้ผู้ขอรับคำปรึกษายอมรับสภาพการณ์ต่างๆอย่างเต็มใจ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4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ให้ผู้ขอรับคำปรึกษา ใช้สติปัญญาแก้ไขปัญหาด้วยตนเอง รับผิดชอบต่อการตัดสินใจของตน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4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6BF6-28DC-D24C-F53A-2D4C3EC2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h-TH" sz="4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ngsana New" panose="02020603050405020304" pitchFamily="18" charset="-34"/>
              </a:rPr>
              <a:t>ลำดับขั้นการให้คำปรึกษาแบบไม่นำทาง</a:t>
            </a:r>
            <a:b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9214-816F-445B-CDA0-5C1DC87B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สร้างมิตรภาพอันดีงามกับผู้มาขอรับการปรึกษา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 err="1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การทำ</a:t>
            </a:r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ให้เกิดความกระจ่างในใจ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r>
              <a:rPr lang="th-TH" sz="2800" dirty="0">
                <a:solidFill>
                  <a:srgbClr val="000000"/>
                </a:solidFill>
                <a:effectLst/>
                <a:latin typeface="Angsana New" panose="02020603050405020304" pitchFamily="18" charset="-34"/>
                <a:ea typeface="Times New Roman" panose="02020603050405020304" pitchFamily="18" charset="0"/>
                <a:cs typeface="+mj-cs"/>
              </a:rPr>
              <a:t>การดำเนินการแก้ไขปัญหา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1795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</TotalTime>
  <Words>857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Angsana New</vt:lpstr>
      <vt:lpstr>Arial</vt:lpstr>
      <vt:lpstr>Century Gothic</vt:lpstr>
      <vt:lpstr>Times New Roman</vt:lpstr>
      <vt:lpstr>Wingdings 3</vt:lpstr>
      <vt:lpstr>Ion Boardroom</vt:lpstr>
      <vt:lpstr>ความหมายของการให้คำปรึกษา</vt:lpstr>
      <vt:lpstr>หลักการสำคัญของการให้คำปรึกษา</vt:lpstr>
      <vt:lpstr>คุณสมบัติที่จำเป็นของผู้ให้คำปรึกษา</vt:lpstr>
      <vt:lpstr>จุดมุ่งหมายของการให้คำปรึกษา </vt:lpstr>
      <vt:lpstr>หลักของการให้คำปรึกษา </vt:lpstr>
      <vt:lpstr>วิธีการในการให้คำปรึกษา </vt:lpstr>
      <vt:lpstr>ลำดับขั้นการให้คำปรึกษาแบบนำทาง </vt:lpstr>
      <vt:lpstr>จุดมุ่งหมายของการให้คำปรึกษาแบบไม่นำทาง </vt:lpstr>
      <vt:lpstr>ลำดับขั้นการให้คำปรึกษาแบบไม่นำทาง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ความหมายของการให้คำปรึกษา</dc:title>
  <dc:creator>User</dc:creator>
  <cp:lastModifiedBy>User</cp:lastModifiedBy>
  <cp:revision>2</cp:revision>
  <dcterms:created xsi:type="dcterms:W3CDTF">2026-06-29T02:24:26Z</dcterms:created>
  <dcterms:modified xsi:type="dcterms:W3CDTF">2026-06-29T02:57:51Z</dcterms:modified>
</cp:coreProperties>
</file>