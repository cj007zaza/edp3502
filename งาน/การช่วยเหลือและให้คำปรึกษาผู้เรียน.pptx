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67" r:id="rId4"/>
    <p:sldId id="268" r:id="rId5"/>
    <p:sldId id="269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E9D3283-9321-4393-A212-9EA0B287A26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27E31CE-7DE2-4D4D-A47B-11AC0D0F0C2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72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3283-9321-4393-A212-9EA0B287A26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31CE-7DE2-4D4D-A47B-11AC0D0F0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3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3283-9321-4393-A212-9EA0B287A26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31CE-7DE2-4D4D-A47B-11AC0D0F0C2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706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3283-9321-4393-A212-9EA0B287A26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31CE-7DE2-4D4D-A47B-11AC0D0F0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22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3283-9321-4393-A212-9EA0B287A26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31CE-7DE2-4D4D-A47B-11AC0D0F0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59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3283-9321-4393-A212-9EA0B287A26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31CE-7DE2-4D4D-A47B-11AC0D0F0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723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3283-9321-4393-A212-9EA0B287A26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31CE-7DE2-4D4D-A47B-11AC0D0F0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4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3283-9321-4393-A212-9EA0B287A26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31CE-7DE2-4D4D-A47B-11AC0D0F0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00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3283-9321-4393-A212-9EA0B287A26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31CE-7DE2-4D4D-A47B-11AC0D0F0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56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3283-9321-4393-A212-9EA0B287A26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31CE-7DE2-4D4D-A47B-11AC0D0F0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90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3283-9321-4393-A212-9EA0B287A26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31CE-7DE2-4D4D-A47B-11AC0D0F0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67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8E9D3283-9321-4393-A212-9EA0B287A26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27E31CE-7DE2-4D4D-A47B-11AC0D0F0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09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B19D6-1F6A-4CDD-9CEB-077F8347A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1" y="1176867"/>
            <a:ext cx="10793412" cy="1413933"/>
          </a:xfrm>
        </p:spPr>
        <p:txBody>
          <a:bodyPr>
            <a:normAutofit fontScale="90000"/>
          </a:bodyPr>
          <a:lstStyle/>
          <a:p>
            <a:r>
              <a:rPr lang="th-TH" sz="7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การช่วยเหลือและให้คำปรึกษาผู้เรียน</a:t>
            </a:r>
            <a:br>
              <a:rPr lang="th-TH" sz="7200" b="1" dirty="0"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en-US" sz="4400" dirty="0">
                <a:latin typeface="Angsana New" panose="02020603050405020304" pitchFamily="18" charset="-34"/>
                <a:cs typeface="Angsana New" panose="02020603050405020304" pitchFamily="18" charset="-34"/>
              </a:rPr>
              <a:t>helping and counseling learner</a:t>
            </a:r>
            <a:endParaRPr lang="en-US" sz="4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13022-A251-07D0-FD98-C382A3E95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001" y="4157133"/>
            <a:ext cx="10869612" cy="1746529"/>
          </a:xfrm>
        </p:spPr>
        <p:txBody>
          <a:bodyPr>
            <a:normAutofit/>
          </a:bodyPr>
          <a:lstStyle/>
          <a:p>
            <a:r>
              <a:rPr lang="th-TH" sz="4400" b="1" dirty="0"/>
              <a:t>ผู้สอน</a:t>
            </a:r>
          </a:p>
          <a:p>
            <a:r>
              <a:rPr lang="th-TH" sz="4400" b="1" dirty="0"/>
              <a:t>     ผู้ช่วยศาสตราจารย์สนธยา สวัสดิ์</a:t>
            </a:r>
          </a:p>
        </p:txBody>
      </p:sp>
    </p:spTree>
    <p:extLst>
      <p:ext uri="{BB962C8B-B14F-4D97-AF65-F5344CB8AC3E}">
        <p14:creationId xmlns:p14="http://schemas.microsoft.com/office/powerpoint/2010/main" val="704330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2B6B5-3944-7A94-3185-F80E37BD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/>
              <a:t>คำอธิบายรายวิชา</a:t>
            </a:r>
            <a:r>
              <a:rPr lang="en-US" b="1" dirty="0"/>
              <a:t> </a:t>
            </a:r>
            <a:r>
              <a:rPr lang="th-TH" b="1" dirty="0"/>
              <a:t> </a:t>
            </a:r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EDP 3504 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th-TH" b="1" dirty="0"/>
              <a:t>การช่วยเหลือและให้คำปรึกษาผู้เรียน</a:t>
            </a:r>
            <a:r>
              <a:rPr lang="en-US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D2F1E-8C68-F462-82B5-10B58730D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th-TH" dirty="0"/>
              <a:t>	</a:t>
            </a:r>
            <a:r>
              <a:rPr lang="th-TH" sz="3600" dirty="0"/>
              <a:t>ความหมาย ความสำคัญ หลักการเบื้องต้นและแนวคิดที่เกี่ยวข้องกับการช่วยเหลือผู้เรียน และการให้การปรึกษาผู้เรียน กระบวนการให้การปรึกษา จรรยาบรรณของการให้คำปรึกษา ทฤษฎีและเทคนิคการให้คำปรึกษา ข้อควรคำนึงในการให้บริการปรึกษาผู้เรียน</a:t>
            </a:r>
          </a:p>
          <a:p>
            <a:pPr marL="45720" indent="0">
              <a:buNone/>
            </a:pPr>
            <a:r>
              <a:rPr lang="th-TH" sz="3600" dirty="0"/>
              <a:t>	เพื่อให้ผู้เรียนสามารถให้คำแนะนำ ช่วยเหลือให้คำปรึกษาผู้เรียนให้มีคุณภาพชีวิตที่ดีขึ้น โดยยึดหลักจรรยาบรรณเบื้องต้นของผู้ให้คำปรึกษา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59422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FE428-6484-0E6F-FA92-E27A47062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จุดมุ่งหมายของรายวิชาการช่วยเหลือและให้คำปรึกษาผู้เรียน</a:t>
            </a:r>
            <a:endParaRPr lang="en-US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8B678-5101-3925-EFE6-7A21CC902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533" y="2057400"/>
            <a:ext cx="7018868" cy="3073400"/>
          </a:xfrm>
        </p:spPr>
        <p:txBody>
          <a:bodyPr>
            <a:normAutofit/>
          </a:bodyPr>
          <a:lstStyle/>
          <a:p>
            <a:pPr marL="502920" indent="-457200">
              <a:buAutoNum type="arabicPeriod"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เพื่อให้นักศึกษามีความรู้ความเข้าใจในเนื้อหา กระบวนการดูแลช่วยเหลือและให้คำปรึกษาผู้เรียน</a:t>
            </a:r>
          </a:p>
          <a:p>
            <a:pPr marL="502920" indent="-457200">
              <a:buAutoNum type="arabicPeriod"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เพื่อให้นักศึกษามีคุณลักษณะของครูที่ดี เข้าใจ ยอมรับ พร้อมที่จะดูแลช่วยเหลือและให้คำปรึกษาผู้เรียน</a:t>
            </a:r>
          </a:p>
          <a:p>
            <a:pPr marL="502920" indent="-457200">
              <a:buAutoNum type="arabicPeriod"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เพื่อให้นักศึกษาสามารถใช้กระบวนการดูแลช่วยเหลือและให้คำปรึกษาผู้เรียน</a:t>
            </a: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44879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0C62-789F-2E8C-F342-804E9E1EE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วิธีจัดการเรียนการสอน</a:t>
            </a:r>
            <a:b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รายวิชาการช่วยเหลือและให้คำปรึกษาผู้เรียน</a:t>
            </a:r>
            <a:endParaRPr lang="en-US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8C955-70A0-5569-D1FB-430DBC6A4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2920" indent="-457200">
              <a:buAutoNum type="arabicPeriod"/>
            </a:pPr>
            <a:r>
              <a:rPr lang="th-TH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เข้าร่วมกิจกรรมในชั้นเรียนอย่างสม่ำเสมอ</a:t>
            </a:r>
          </a:p>
          <a:p>
            <a:pPr marL="502920" indent="-457200">
              <a:buAutoNum type="arabicPeriod"/>
            </a:pPr>
            <a:r>
              <a:rPr lang="th-TH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ทำแบบฝึกหัดและกิจกรรมที่ได้รับมอบหมายในชั้นเรียน</a:t>
            </a:r>
          </a:p>
          <a:p>
            <a:pPr marL="502920" indent="-457200">
              <a:buAutoNum type="arabicPeriod"/>
            </a:pPr>
            <a:r>
              <a:rPr lang="th-TH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ปฏิบัติเพื่อเรียนรู้และหาแนวทางวิธีการช่วยเหลือผู้เรียนและให้คำปรึกษา</a:t>
            </a:r>
          </a:p>
          <a:p>
            <a:pPr marL="502920" indent="-457200">
              <a:buAutoNum type="arabicPeriod"/>
            </a:pPr>
            <a:r>
              <a:rPr lang="th-TH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สอบกลางภาคเรียน</a:t>
            </a:r>
          </a:p>
          <a:p>
            <a:pPr marL="502920" indent="-457200">
              <a:buAutoNum type="arabicPeriod"/>
            </a:pPr>
            <a:r>
              <a:rPr lang="th-TH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สอบปลายภาคเรียน</a:t>
            </a: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86501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FF277-5664-A060-5EB3-11F3F412A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เกณฑ์การให้คะแนน</a:t>
            </a:r>
            <a:endParaRPr lang="en-US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2FFE6-C7DC-246C-CBF7-CF75544C7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1" y="1710267"/>
            <a:ext cx="3657600" cy="4385733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80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% 	</a:t>
            </a: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ขึ้นไป 	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</a:t>
            </a:r>
          </a:p>
          <a:p>
            <a:pPr marL="4572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75-79% 	</a:t>
            </a: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B+</a:t>
            </a:r>
          </a:p>
          <a:p>
            <a:pPr marL="4572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70-74%		B</a:t>
            </a:r>
          </a:p>
          <a:p>
            <a:pPr marL="4572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65-69%		C+</a:t>
            </a:r>
          </a:p>
          <a:p>
            <a:pPr marL="4572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60-64%		C</a:t>
            </a:r>
          </a:p>
          <a:p>
            <a:pPr marL="4572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55-59%		D+</a:t>
            </a:r>
          </a:p>
          <a:p>
            <a:pPr marL="4572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50-54%		D</a:t>
            </a:r>
          </a:p>
          <a:p>
            <a:pPr marL="45720" indent="0">
              <a:buNone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ต่ำกว่า 50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%</a:t>
            </a: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155240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AA48D-4B6A-2B9B-9C70-018096236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ความมุ่งหมายของการศึกษาระบบดูแลช่วยเหลือผู้เรียน</a:t>
            </a:r>
            <a:b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6077A-5007-F382-2317-6CBF29592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	เพื่อให้นักศึกษาเข้าใจระบบคุณภาพในการดำเนินงานดูแลช่วยเหลือผู้เรียนของโรงเรียน ช่วย</a:t>
            </a:r>
            <a:r>
              <a:rPr lang="th-TH" sz="2400" dirty="0">
                <a:effectLst/>
                <a:ea typeface="Times New Roman" panose="02020603050405020304" pitchFamily="18" charset="0"/>
                <a:cs typeface="Angsana New" panose="02020603050405020304" pitchFamily="18" charset="-34"/>
              </a:rPr>
              <a:t>ให้การดำเนินงานช่วยเหลือผู้เรียนเป็นไปอย่างเป็นระบบและมีประสิทธิภาพ โดยมีฝ่ายกิจการนักเรียน งานแนะแนว งานส่งเสริมสุขภาพ งานระเบียบวินัย งานป้องกันสารเสพติด งานระดับชั้นและมีทีมครูที่ปรึกษาที่มีความรู้ มีทักษะ เจตคติในการดูแลช่วยเหลือ ส่งเสริมให้ผู้เรียนทุกคนมีทักษะชีวิต สามารถอยู่ร่วมกับผู้อื่น อย่างมีความสุข</a:t>
            </a:r>
          </a:p>
          <a:p>
            <a:pPr marL="45720" indent="0">
              <a:buNone/>
            </a:pPr>
            <a:r>
              <a:rPr lang="th-TH" sz="2400" dirty="0">
                <a:cs typeface="Angsana New" panose="02020603050405020304" pitchFamily="18" charset="-34"/>
              </a:rPr>
              <a:t>	</a:t>
            </a:r>
            <a:r>
              <a:rPr lang="th-TH" sz="2400" dirty="0">
                <a:effectLst/>
                <a:ea typeface="Times New Roman" panose="02020603050405020304" pitchFamily="18" charset="0"/>
                <a:cs typeface="Angsana New" panose="02020603050405020304" pitchFamily="18" charset="-34"/>
              </a:rPr>
              <a:t>เพื่อให้การฝึกปฏิบัติงานในโรงเรียนของนักศึกษาร่วมกับครูในโรงเรียน ผู้ปกครอง หน่วยงานที่เกี่ยวข้อง และชุมชน มีการทำงานร่วมกันโดยผ่านกระบวนการที่มีระบบ พร้อมด้วยเอกสารหลักฐานการปฏิบัติงาน สามารถตรวจสอบติดตามและประเมินได้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203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1D8BA-F6CC-782F-A9D4-2390D704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/>
              <a:t>ขอบข่ายของการดูแลช่วยเหลือผู้เรียนในโรงเรียน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84E49-736E-2337-40E3-3985687C6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th-TH" sz="2400" dirty="0">
                <a:effectLst/>
                <a:ea typeface="Times New Roman" panose="02020603050405020304" pitchFamily="18" charset="0"/>
                <a:cs typeface="Angsana New" panose="02020603050405020304" pitchFamily="18" charset="-34"/>
              </a:rPr>
              <a:t> 	</a:t>
            </a:r>
            <a:r>
              <a:rPr lang="th-TH" sz="2800" dirty="0">
                <a:effectLst/>
                <a:ea typeface="Times New Roman" panose="02020603050405020304" pitchFamily="18" charset="0"/>
                <a:cs typeface="Angsana New" panose="02020603050405020304" pitchFamily="18" charset="-34"/>
              </a:rPr>
              <a:t>เป็นระบบที่เน้นกระบวนการ วิธีการดำเนินงานดูแลช่วยเหลือนักเรียนอย่างมีขั้นตอน พร้อมด้วยเครื่องมือการทำงานที่ชัดเจน โดยมีฝ่ายกิจการนักเรียน งานแนะแนว งานส่งเสริมสุขภาพ งานระเบียบวินัย งานป้องกันสารเสพติด งานระดับชั้นและคณะครูที่ปรึกษา เป็นบุคลากรหลักในการดำเนินการส่งเสริม ดูแลช่วยเหลือนักเรียนในด้านต่าง ๆ ภายในโรงเรียน และประสานความร่วมมือกับผู้ปกครอง และองค์กรภายนอก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70649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DCAF1-9FC1-7228-C538-D9E6F247E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ความหมายของการดูแลช่วยเหลือผู้เรียนในโรงเรียน</a:t>
            </a:r>
            <a:endParaRPr lang="en-US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32EE4-2079-600A-AB7F-27E161CC3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th-TH" sz="3200" dirty="0">
                <a:effectLst/>
                <a:ea typeface="Times New Roman" panose="02020603050405020304" pitchFamily="18" charset="0"/>
                <a:cs typeface="Angsana New" panose="02020603050405020304" pitchFamily="18" charset="-34"/>
              </a:rPr>
              <a:t>การดูแลช่วยเหลือ หมายถึง การส่งเสริม การป้องกันและการช่วยเหลือ แก้ไขปัญหา โดย</a:t>
            </a:r>
            <a:r>
              <a:rPr lang="th-TH" sz="3200" u="sng" dirty="0">
                <a:effectLst/>
                <a:ea typeface="Times New Roman" panose="02020603050405020304" pitchFamily="18" charset="0"/>
                <a:cs typeface="Angsana New" panose="02020603050405020304" pitchFamily="18" charset="-34"/>
              </a:rPr>
              <a:t>วิธีการและเครื่องมือ</a:t>
            </a:r>
            <a:r>
              <a:rPr lang="th-TH" sz="3200" dirty="0">
                <a:effectLst/>
                <a:ea typeface="Times New Roman" panose="02020603050405020304" pitchFamily="18" charset="0"/>
                <a:cs typeface="Angsana New" panose="02020603050405020304" pitchFamily="18" charset="-34"/>
              </a:rPr>
              <a:t>สำหรับครูที่ปรึกษา บุคลากรที่เกี่ยวข้องเพื่อให้การดำเนินงานพัฒนานักเรียน โดยเน้นให้นักเรียนเป็นคนดี คนเก่ง ปลอดภัยจากสารเสพติด และมีความสุขในการดำรงชีวิต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65204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2B64-DAE6-9F30-3C59-2804B1D1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5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เกณฑ์การคัดกรองนักเรียนในโรงเรียน</a:t>
            </a:r>
            <a:endParaRPr lang="en-US" sz="5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08836-8275-6AC0-1FFB-06C63D6E0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th-TH" sz="3200" dirty="0">
                <a:effectLst/>
                <a:ea typeface="Times New Roman" panose="02020603050405020304" pitchFamily="18" charset="0"/>
                <a:cs typeface="Angsana New" panose="02020603050405020304" pitchFamily="18" charset="-34"/>
              </a:rPr>
              <a:t>เกณฑ์การคัดกรอง เป็นการนำเสนอข้อมูลที่ได้จาก</a:t>
            </a:r>
            <a:r>
              <a:rPr lang="th-TH" sz="3200" u="sng" dirty="0">
                <a:effectLst/>
                <a:ea typeface="Times New Roman" panose="02020603050405020304" pitchFamily="18" charset="0"/>
                <a:cs typeface="Angsana New" panose="02020603050405020304" pitchFamily="18" charset="-34"/>
              </a:rPr>
              <a:t>เครื่องมือ</a:t>
            </a:r>
            <a:r>
              <a:rPr lang="th-TH" sz="3200" dirty="0">
                <a:effectLst/>
                <a:ea typeface="Times New Roman" panose="02020603050405020304" pitchFamily="18" charset="0"/>
                <a:cs typeface="Angsana New" panose="02020603050405020304" pitchFamily="18" charset="-34"/>
              </a:rPr>
              <a:t>และ</a:t>
            </a:r>
            <a:r>
              <a:rPr lang="th-TH" sz="3200" u="sng" dirty="0">
                <a:effectLst/>
                <a:ea typeface="Times New Roman" panose="02020603050405020304" pitchFamily="18" charset="0"/>
                <a:cs typeface="Angsana New" panose="02020603050405020304" pitchFamily="18" charset="-34"/>
              </a:rPr>
              <a:t>แหล่งข้อมูล</a:t>
            </a:r>
            <a:r>
              <a:rPr lang="th-TH" sz="3200" dirty="0">
                <a:effectLst/>
                <a:ea typeface="Times New Roman" panose="02020603050405020304" pitchFamily="18" charset="0"/>
                <a:cs typeface="Angsana New" panose="02020603050405020304" pitchFamily="18" charset="-34"/>
              </a:rPr>
              <a:t>ต่าง ๆ มากำหนดร่วมกันเพื่อการตัดสินใจการส่งเสริม หรือให้การช่วยเหลือ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54362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E565B-2402-90F3-FFBA-3639B5F65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เป้าหมายของระบบดูแลช่วยเหลือนักเรียนในโรงเรียน</a:t>
            </a:r>
            <a:endParaRPr lang="en-US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845E5-A5E1-F5CA-BB0F-0F33B4008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th-TH" sz="3200" dirty="0">
                <a:effectLst/>
                <a:ea typeface="Times New Roman" panose="02020603050405020304" pitchFamily="18" charset="0"/>
                <a:cs typeface="Angsana New" panose="02020603050405020304" pitchFamily="18" charset="-34"/>
              </a:rPr>
              <a:t>1. นักเรียนทุกคนในโรงเรียนที่ควรได้รับการส่งเสริมให้มีพัฒนาการด้านร่างกาย อารมณ์ สังคม และสติปัญญา พร้อมที่จะเรียนรู้และปรับตัวในสังคมได้อย่างปกติสุข</a:t>
            </a:r>
          </a:p>
          <a:p>
            <a:pPr marL="45720" indent="0">
              <a:buNone/>
            </a:pPr>
            <a:r>
              <a:rPr lang="th-TH" sz="3200" dirty="0">
                <a:ea typeface="Times New Roman" panose="02020603050405020304" pitchFamily="18" charset="0"/>
                <a:cs typeface="Angsana New" panose="02020603050405020304" pitchFamily="18" charset="-34"/>
              </a:rPr>
              <a:t>2. นักเรียนใน</a:t>
            </a:r>
            <a:r>
              <a:rPr lang="th-TH" sz="3200" dirty="0">
                <a:effectLst/>
                <a:ea typeface="Times New Roman" panose="02020603050405020304" pitchFamily="18" charset="0"/>
                <a:cs typeface="Angsana New" panose="02020603050405020304" pitchFamily="18" charset="-34"/>
              </a:rPr>
              <a:t>กลุ่มเสี่ยง / มีปัญหา นักเรียนที่มีปัญหาด้านความสามารถ ด้านสุขภาพ ด้านครอบครัวและด้านอื่น ๆ ตามเกณฑ์ที่โรงเรียนกำหนด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10023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7F1A2-8ED6-50DD-F56B-7D1630D7F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การส่งต่อนักเรียนไปยังหน่วยงานภายนอก</a:t>
            </a:r>
            <a:endParaRPr lang="en-US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A2070-D3D0-0B2B-6CAE-871B965AD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th-TH" sz="3200" dirty="0">
                <a:effectLst/>
                <a:ea typeface="Times New Roman" panose="02020603050405020304" pitchFamily="18" charset="0"/>
                <a:cs typeface="Angsana New" panose="02020603050405020304" pitchFamily="18" charset="-34"/>
              </a:rPr>
              <a:t>	การส่งต่อ การส่งนักเรียนที่มีปัญหา ที่ครูช่วยเหลือแล้ว นักเรียนไม่ดีขึ้น และยากต่อการช่วยเหลือจึงดำเนินการส่งต่อไปยังผู้เชี่ยวชาญเฉพาะด้านต่อไป ซึ่งได้แก่ หน่วยงานที่เกี่ยวข้องกับกรมสุขภาพจิต โรงพยาบาล สถานบำบัดดูแลช่วยเหลือ ฯลฯ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7738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18A2-054A-60B5-2C21-574A7D03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การส่งต่อนักเรียนภายในโรงเรียน</a:t>
            </a:r>
            <a:endParaRPr lang="en-US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458C5-052C-A80B-C948-73C152806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th-TH" sz="2400" dirty="0">
                <a:effectLst/>
                <a:ea typeface="Times New Roman" panose="02020603050405020304" pitchFamily="18" charset="0"/>
                <a:cs typeface="Angsana New" panose="02020603050405020304" pitchFamily="18" charset="-34"/>
              </a:rPr>
              <a:t>	</a:t>
            </a:r>
            <a:r>
              <a:rPr lang="th-TH" sz="3200" dirty="0">
                <a:effectLst/>
                <a:ea typeface="Times New Roman" panose="02020603050405020304" pitchFamily="18" charset="0"/>
                <a:cs typeface="Angsana New" panose="02020603050405020304" pitchFamily="18" charset="-34"/>
              </a:rPr>
              <a:t>การส่งต่อภายใน ครูที่ปรึกษาส่งต่อไปยังผู้ที่เกี่ยวข้องภายในโรงเรียน โดยพิจารณาจากปัญหาของนักเรียน เช่น ครูแนะแนว ครูพยาบาล ครูโภชนาการ ครูประจำวิชา หรือฝ่ายกิจการนักเรียน เป็นต้น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12101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99C3-3B36-59A9-55BB-352829D1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ขั้นตอนการดูแลช่วยเหลือผู้เรียน</a:t>
            </a:r>
            <a:endParaRPr lang="en-US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12601-5F1D-8B55-8076-A31F05F35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744133"/>
            <a:ext cx="9872871" cy="4351867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US" sz="18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 </a:t>
            </a:r>
            <a:r>
              <a:rPr lang="th-TH" sz="18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	</a:t>
            </a: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1.   </a:t>
            </a:r>
            <a:r>
              <a:rPr lang="th-TH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การรู้จักนักเรียนเป็นรายบุคคล โดยการเยี่ยมบ้านนักเรียน และสัมภาษณ์เป็นรายบุคคล</a:t>
            </a:r>
            <a:b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</a:b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                 2.   </a:t>
            </a:r>
            <a:r>
              <a:rPr lang="th-TH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การคัดกรองนักเรียน โดยคัดกรองนักเรียน </a:t>
            </a: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2 </a:t>
            </a:r>
            <a:r>
              <a:rPr lang="th-TH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ประเภท คือนักเรียนกลุ่มเสี่ยงและกลุ่มปกติ โดยจัดทำแบบประเมินนักเรียน(</a:t>
            </a: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SDQ) 3 </a:t>
            </a:r>
            <a:r>
              <a:rPr lang="th-TH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ฉบับ ฉบับนักเรียน ฉบับผู้ปกครองและฉบับครู</a:t>
            </a:r>
            <a:b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</a:b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                 3.   </a:t>
            </a:r>
            <a:r>
              <a:rPr lang="th-TH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การส่งเสริมนักเรียน จัดกิจกรรมต่างๆเพื่อให้ความรู้และส่งเสริมทักษะให้กับนักเรียน โดยกำหนดเป็นแผนกิจกรรมประจำปีและให้นักเรียนเป็นผู้ดำเนินการ มีครูเป็นที่ปรึกษา</a:t>
            </a:r>
            <a:b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</a:b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                 4.   </a:t>
            </a:r>
            <a:r>
              <a:rPr lang="th-TH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ป้องกันและแก้ไขปัญหา โรงเรียนกำหนดมาตรการเฝ้าระวัง กำหนดระเบียบ การให้คะแนนความประพฤติ เชิญวิทยากรภายนอกให้ความรู้ จัดบุคลากรสอดส่องตามชุมชน การตรวจสุขภาพ</a:t>
            </a:r>
            <a:b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</a:b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                 5.   </a:t>
            </a:r>
            <a:r>
              <a:rPr lang="th-TH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การส่งต่อ เฉพาะนักเรียนที่มีปัญหาด้านพฤติกรรมทั้งการส่งต่อภายในโรงเรียนและนอกโรงเรียน เช่นผู้เชี่ยวชาญ ร่วมมือกับผู้ปกครอง ติดตามอย่างใกล้ชิดจนแก้ปัญหาได้</a:t>
            </a:r>
            <a:b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</a:b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                 6.</a:t>
            </a:r>
            <a:r>
              <a:rPr lang="th-TH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  ทีมระดับโรงเรียน</a:t>
            </a: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 </a:t>
            </a:r>
            <a:b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</a:br>
            <a:r>
              <a:rPr lang="th-TH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                            -  ทีมนำ คือ ผู้อำนวยการ</a:t>
            </a: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,</a:t>
            </a:r>
            <a:r>
              <a:rPr lang="th-TH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รองผู้อำนวยการโรงเรียน</a:t>
            </a:r>
            <a:b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</a:br>
            <a:r>
              <a:rPr lang="th-TH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                            -  ทีมประสาน คือ หัวหน้าคณะ หัวหน้าระดับ หัวหน้างานที่เกี่ยวข้อง</a:t>
            </a:r>
            <a:b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</a:br>
            <a:r>
              <a:rPr lang="th-TH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                            -  ทีมทำ คือ ครูประจำชั้น ครูที่ปรึกษา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509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7929-9BE2-EE80-7F28-4F906F189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/>
              <a:t>ปัจจัยที่เอื้อต่อการดำเนินงานการดูแลช่วยเหลือผู้เรียนในโรงเรียน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13992-2A26-2781-F6DA-2313DE102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</a:rPr>
              <a:t> </a:t>
            </a:r>
            <a:r>
              <a:rPr lang="th-TH" sz="2400">
                <a:effectLst/>
                <a:latin typeface="Angsana New" panose="02020603050405020304" pitchFamily="18" charset="-34"/>
                <a:ea typeface="Times New Roman" panose="02020603050405020304" pitchFamily="18" charset="0"/>
              </a:rPr>
              <a:t>	    </a:t>
            </a:r>
            <a:r>
              <a:rPr lang="en-US" sz="320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1</a:t>
            </a:r>
            <a:r>
              <a:rPr lang="en-US" sz="32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.   </a:t>
            </a:r>
            <a:r>
              <a:rPr lang="th-TH" sz="32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ความตระหนักของครู</a:t>
            </a:r>
            <a:br>
              <a:rPr lang="en-US" sz="32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</a:br>
            <a:r>
              <a:rPr lang="en-US" sz="32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                 2.   </a:t>
            </a:r>
            <a:r>
              <a:rPr lang="th-TH" sz="32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การสร้างบรรยากาศที่ดีในการทำงานร่วมกัน</a:t>
            </a:r>
            <a:br>
              <a:rPr lang="en-US" sz="32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</a:br>
            <a:r>
              <a:rPr lang="en-US" sz="32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                 3.   </a:t>
            </a:r>
            <a:r>
              <a:rPr lang="th-TH" sz="32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ความศรัทธาของผู้ปกครองที่มีต่อโรงเรียน</a:t>
            </a: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66997190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110</TotalTime>
  <Words>972</Words>
  <Application>Microsoft Office PowerPoint</Application>
  <PresentationFormat>Widescreen</PresentationFormat>
  <Paragraphs>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Angsana New</vt:lpstr>
      <vt:lpstr>Corbel</vt:lpstr>
      <vt:lpstr>Times New Roman</vt:lpstr>
      <vt:lpstr>Basis</vt:lpstr>
      <vt:lpstr>การช่วยเหลือและให้คำปรึกษาผู้เรียน helping and counseling learner</vt:lpstr>
      <vt:lpstr>คำอธิบายรายวิชา  EDP 3504   การช่วยเหลือและให้คำปรึกษาผู้เรียน </vt:lpstr>
      <vt:lpstr>จุดมุ่งหมายของรายวิชาการช่วยเหลือและให้คำปรึกษาผู้เรียน</vt:lpstr>
      <vt:lpstr>วิธีจัดการเรียนการสอน รายวิชาการช่วยเหลือและให้คำปรึกษาผู้เรียน</vt:lpstr>
      <vt:lpstr>เกณฑ์การให้คะแนน</vt:lpstr>
      <vt:lpstr>ความมุ่งหมายของการศึกษาระบบดูแลช่วยเหลือผู้เรียน </vt:lpstr>
      <vt:lpstr>ขอบข่ายของการดูแลช่วยเหลือผู้เรียนในโรงเรียน</vt:lpstr>
      <vt:lpstr>ความหมายของการดูแลช่วยเหลือผู้เรียนในโรงเรียน</vt:lpstr>
      <vt:lpstr>เกณฑ์การคัดกรองนักเรียนในโรงเรียน</vt:lpstr>
      <vt:lpstr>เป้าหมายของระบบดูแลช่วยเหลือนักเรียนในโรงเรียน</vt:lpstr>
      <vt:lpstr>การส่งต่อนักเรียนไปยังหน่วยงานภายนอก</vt:lpstr>
      <vt:lpstr>การส่งต่อนักเรียนภายในโรงเรียน</vt:lpstr>
      <vt:lpstr>ขั้นตอนการดูแลช่วยเหลือผู้เรียน</vt:lpstr>
      <vt:lpstr>ปัจจัยที่เอื้อต่อการดำเนินงานการดูแลช่วยเหลือผู้เรียนในโรงเรียน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การช่วยเหลือและให้คำปรึกษาผู้เรียน</dc:title>
  <dc:creator>User</dc:creator>
  <cp:lastModifiedBy>User</cp:lastModifiedBy>
  <cp:revision>6</cp:revision>
  <dcterms:created xsi:type="dcterms:W3CDTF">2026-06-13T09:10:10Z</dcterms:created>
  <dcterms:modified xsi:type="dcterms:W3CDTF">2026-06-16T10:34:53Z</dcterms:modified>
</cp:coreProperties>
</file>